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1E0FCC-5C62-48BA-AEE8-5EF6ED5505A4}" v="395" dt="2026-08-01T12:46:33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slide" Target="slides/slide12.xml" Id="rId13" /><Relationship Type="http://schemas.openxmlformats.org/officeDocument/2006/relationships/slide" Target="slides/slide2.xml" Id="rId3" /><Relationship Type="http://schemas.openxmlformats.org/officeDocument/2006/relationships/slide" Target="slides/slide6.xml" Id="rId7" /><Relationship Type="http://schemas.openxmlformats.org/officeDocument/2006/relationships/slide" Target="slides/slide11.xml" Id="rId12" /><Relationship Type="http://schemas.openxmlformats.org/officeDocument/2006/relationships/tableStyles" Target="tableStyles.xml" Id="rId17" /><Relationship Type="http://schemas.openxmlformats.org/officeDocument/2006/relationships/slide" Target="slides/slide1.xml" Id="rId2" /><Relationship Type="http://schemas.openxmlformats.org/officeDocument/2006/relationships/theme" Target="theme/theme1.xml" Id="rId16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10.xml" Id="rId11" /><Relationship Type="http://schemas.openxmlformats.org/officeDocument/2006/relationships/slide" Target="slides/slide4.xml" Id="rId5" /><Relationship Type="http://schemas.openxmlformats.org/officeDocument/2006/relationships/viewProps" Target="viewProps.xml" Id="rId15" /><Relationship Type="http://schemas.openxmlformats.org/officeDocument/2006/relationships/slide" Target="slides/slide9.xml" Id="rId10" /><Relationship Type="http://schemas.microsoft.com/office/2015/10/relationships/revisionInfo" Target="revisionInfo.xml" Id="rId19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presProps" Target="presProps.xml" Id="rId14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5" name="Rectangle 94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7016" y="905011"/>
            <a:ext cx="4589328" cy="1889135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900" b="1" u="sng" kern="1200">
                <a:latin typeface="Times New Roman"/>
                <a:cs typeface="Times New Roman"/>
              </a:rPr>
              <a:t>BABY GOAT APPAREL: BREAKING THE BOTTLENECK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447283-AE6A-DC3C-C05B-89A779985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70" y="895610"/>
            <a:ext cx="5058020" cy="5058020"/>
          </a:xfrm>
          <a:prstGeom prst="rect">
            <a:avLst/>
          </a:prstGeom>
        </p:spPr>
      </p:pic>
      <p:sp>
        <p:nvSpPr>
          <p:cNvPr id="71" name="Content Placeholder 54">
            <a:extLst>
              <a:ext uri="{FF2B5EF4-FFF2-40B4-BE49-F238E27FC236}">
                <a16:creationId xmlns:a16="http://schemas.microsoft.com/office/drawing/2014/main" id="{B63F6C84-A4C1-AEBE-AA3E-DFFF5121D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016" y="2965592"/>
            <a:ext cx="4589328" cy="298739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>
                <a:latin typeface="Times New Roman"/>
                <a:cs typeface="Times New Roman"/>
              </a:rPr>
              <a:t>Luxury Street </a:t>
            </a:r>
            <a:r>
              <a:rPr lang="en-US" sz="1800">
                <a:latin typeface="Times New Roman"/>
                <a:cs typeface="Times New Roman"/>
              </a:rPr>
              <a:t>Apparel</a:t>
            </a:r>
            <a:endParaRPr lang="en-US" sz="1800" dirty="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Built </a:t>
            </a:r>
            <a:r>
              <a:rPr lang="en-US" sz="1800">
                <a:latin typeface="Times New Roman"/>
                <a:cs typeface="Times New Roman"/>
              </a:rPr>
              <a:t>Different</a:t>
            </a:r>
            <a:endParaRPr lang="en-US" sz="1800" dirty="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cs typeface="Times New Roman"/>
              </a:rPr>
              <a:t>Worn Proud</a:t>
            </a:r>
            <a:endParaRPr lang="en-US" sz="1800" dirty="0">
              <a:latin typeface="Times New Roman"/>
              <a:cs typeface="Times New Roman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B27F9-CD74-C47C-85C5-7E0C3F96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u="sng"/>
              <a:t>The Problem &amp; The Gap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DC87BD3A-76FC-5752-85D7-D81D36D4C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680" y="2405067"/>
            <a:ext cx="6002110" cy="37290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900" b="1"/>
              <a:t>South Africa’s streetwear market is broken</a:t>
            </a:r>
          </a:p>
          <a:p>
            <a:r>
              <a:rPr lang="en-US" sz="1900" b="1"/>
              <a:t>Option A:</a:t>
            </a:r>
            <a:r>
              <a:rPr lang="en-US" sz="1900"/>
              <a:t> Cheap, mass-produced shirts that pill and shrink after three washes.</a:t>
            </a:r>
            <a:endParaRPr lang="en-US" sz="1900" b="1"/>
          </a:p>
          <a:p>
            <a:r>
              <a:rPr lang="en-US" sz="1900" b="1"/>
              <a:t>Option B:</a:t>
            </a:r>
            <a:r>
              <a:rPr lang="en-US" sz="1900"/>
              <a:t> Overpriced international imports that have zero connection to our local culture and cost a fortune to ship.</a:t>
            </a:r>
          </a:p>
          <a:p>
            <a:r>
              <a:rPr lang="en-US" sz="1900" b="1"/>
              <a:t>The Gap:</a:t>
            </a:r>
            <a:r>
              <a:rPr lang="en-US" sz="1900"/>
              <a:t> Customers—whether they are 19 or 59—want premium quality without the import price tag. They want fabric that feels expensive, cuts that fit real bodies, and a brand that actually represents them.</a:t>
            </a:r>
          </a:p>
          <a:p>
            <a:r>
              <a:rPr lang="en-US" sz="1900" b="1"/>
              <a:t>BABY GOAT bridges that gap.</a:t>
            </a:r>
            <a:endParaRPr lang="en-US" sz="1900"/>
          </a:p>
          <a:p>
            <a:endParaRPr lang="en-US" sz="1900" b="1"/>
          </a:p>
        </p:txBody>
      </p:sp>
      <p:pic>
        <p:nvPicPr>
          <p:cNvPr id="70" name="Content Placeholder 69">
            <a:extLst>
              <a:ext uri="{FF2B5EF4-FFF2-40B4-BE49-F238E27FC236}">
                <a16:creationId xmlns:a16="http://schemas.microsoft.com/office/drawing/2014/main" id="{638918B4-11A5-19C0-D912-8B3ED627E2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1800" r="1" b="651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55940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84704B-7C81-57E2-BCD0-36438BA57B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7063" r="9910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445C41-5B95-6E02-CC54-4E025534E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 </a:t>
            </a:r>
            <a:r>
              <a:rPr lang="en-US" sz="4000" b="1" u="sng"/>
              <a:t>The Brand DNA</a:t>
            </a:r>
            <a:endParaRPr lang="en-US" sz="4000" u="sng"/>
          </a:p>
          <a:p>
            <a:endParaRPr lang="en-US" sz="400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39F962B-E029-375A-3B65-AA49CF8EB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b="1"/>
              <a:t> This isn't a clothing line; it's a uniform for confidence.</a:t>
            </a:r>
          </a:p>
          <a:p>
            <a:r>
              <a:rPr lang="en-US" sz="1600" b="1"/>
              <a:t>Our Mission:</a:t>
            </a:r>
            <a:r>
              <a:rPr lang="en-US" sz="1600"/>
              <a:t> To outfit bold, creative, and ambitious people with apparel that lasts—not fast fashion that ends up in a landfill.</a:t>
            </a:r>
            <a:endParaRPr lang="en-US" sz="1600" b="1"/>
          </a:p>
          <a:p>
            <a:r>
              <a:rPr lang="en-US" sz="1600" b="1"/>
              <a:t>Our Vision:</a:t>
            </a:r>
            <a:r>
              <a:rPr lang="en-US" sz="1600"/>
              <a:t> To take a kitchen-table studio in Pietermaritzburg and build a local luxury-street label that competes with the global big boys.</a:t>
            </a:r>
          </a:p>
          <a:p>
            <a:r>
              <a:rPr lang="en-US" sz="1600" b="1"/>
              <a:t>Our Core Value:</a:t>
            </a:r>
            <a:r>
              <a:rPr lang="en-US" sz="1600"/>
              <a:t> We are "Boldly Humble." We are small, but we don't play small. We respect the craft, we respect our customers of all ages, and we respect the streets that raised us.</a:t>
            </a:r>
            <a:br>
              <a:rPr lang="en-US" sz="1600"/>
            </a:br>
            <a:endParaRPr lang="en-US" sz="1600"/>
          </a:p>
          <a:p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3182036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ECEC42-9026-1735-232B-646FDBCE7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u="sng"/>
              <a:t>The Fabric &amp; The Unboxing</a:t>
            </a:r>
            <a:endParaRPr lang="en-US" sz="4000" u="sng"/>
          </a:p>
          <a:p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2070E-650B-BD8D-13B8-72436004A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680" y="2405067"/>
            <a:ext cx="6002110" cy="37290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/>
              <a:t>We don’t cut corners. From the fabric to the bag</a:t>
            </a:r>
          </a:p>
          <a:p>
            <a:r>
              <a:rPr lang="en-US" sz="1600" b="1"/>
              <a:t>The Fabric:</a:t>
            </a:r>
            <a:r>
              <a:rPr lang="en-US" sz="1600"/>
              <a:t> We use a premium Scuba fabric for our flagship piece that structurally identical to what you’d find in a ZARA tier garment. It has a smooth, elevated drape. We also offer 300gsm boxy heavyweights and breathable 200gsm organic cottons.</a:t>
            </a:r>
          </a:p>
          <a:p>
            <a:r>
              <a:rPr lang="en-US" sz="1600" b="1"/>
              <a:t>The Ritual (Packaging):</a:t>
            </a:r>
            <a:r>
              <a:rPr lang="en-US" sz="1600"/>
              <a:t> We don't throw tees in a cheap plastic bag.</a:t>
            </a:r>
          </a:p>
          <a:p>
            <a:pPr lvl="1"/>
            <a:r>
              <a:rPr lang="en-US" sz="1600"/>
              <a:t>The garment goes into a custom </a:t>
            </a:r>
            <a:r>
              <a:rPr lang="en-US" sz="1600" b="1"/>
              <a:t>BABY GOAT aesthetic paper bag</a:t>
            </a:r>
            <a:r>
              <a:rPr lang="en-US" sz="1600"/>
              <a:t>.</a:t>
            </a:r>
          </a:p>
          <a:p>
            <a:pPr lvl="1"/>
            <a:r>
              <a:rPr lang="en-US" sz="1600" dirty="0"/>
              <a:t>Sealed in a branded, modern poly-mailer (similar durability to SHEIN, but customized to our visual identity).</a:t>
            </a:r>
          </a:p>
          <a:p>
            <a:pPr lvl="1"/>
            <a:r>
              <a:rPr lang="en-US" sz="1600" b="1"/>
              <a:t>And the note:</a:t>
            </a:r>
            <a:r>
              <a:rPr lang="en-US" sz="1600"/>
              <a:t> Instead of printing a separate waste card, we hand-write a personalized thank-you directly on the invoice itself. It’s warm, personal, and zero waste.</a:t>
            </a:r>
          </a:p>
          <a:p>
            <a:endParaRPr lang="en-US" sz="16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7213A7-46AE-9F4F-AAC1-4AE2EB2D0B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2935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234593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Content Placeholder 54">
            <a:extLst>
              <a:ext uri="{FF2B5EF4-FFF2-40B4-BE49-F238E27FC236}">
                <a16:creationId xmlns:a16="http://schemas.microsoft.com/office/drawing/2014/main" id="{F821B17B-04F8-1CF5-D56A-CDADA15E67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21203" r="11542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0CFD0-1460-5C92-A628-81530939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u="sng"/>
              <a:t> The Proving Ground</a:t>
            </a:r>
            <a:endParaRPr lang="en-US" sz="4000" u="sng"/>
          </a:p>
          <a:p>
            <a:endParaRPr lang="en-US" sz="4000"/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294831DF-FB23-B801-5C88-F4CA80BD4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b="1"/>
              <a:t>We don't pitch hypotheticals. We pitch sold-out stock</a:t>
            </a:r>
          </a:p>
          <a:p>
            <a:r>
              <a:rPr lang="en-US" sz="1600"/>
              <a:t>We launched in July 2026 from my home studio with zero external funding and zero debt.</a:t>
            </a:r>
          </a:p>
          <a:p>
            <a:r>
              <a:rPr lang="en-US" sz="1600" b="1"/>
              <a:t>The result was a 100% sell-out of our inventory.</a:t>
            </a:r>
            <a:endParaRPr lang="en-US" sz="1600"/>
          </a:p>
          <a:p>
            <a:r>
              <a:rPr lang="en-US" sz="1600" b="1"/>
              <a:t>Revenue:</a:t>
            </a:r>
            <a:r>
              <a:rPr lang="en-US" sz="1600"/>
              <a:t> R 4,755.00 generated.</a:t>
            </a:r>
          </a:p>
          <a:p>
            <a:r>
              <a:rPr lang="en-US" sz="1600" b="1"/>
              <a:t>Gross Margin:</a:t>
            </a:r>
            <a:r>
              <a:rPr lang="en-US" sz="1600"/>
              <a:t> 65.5% (Proving people are willing to pay premium prices for what we make).</a:t>
            </a:r>
          </a:p>
          <a:p>
            <a:r>
              <a:rPr lang="en-US" sz="1600" b="1"/>
              <a:t>Net Profit (After Tax):</a:t>
            </a:r>
            <a:r>
              <a:rPr lang="en-US" sz="1600"/>
              <a:t> R 1,397.95 in pure profit, sitting in the bank.</a:t>
            </a:r>
          </a:p>
          <a:p>
            <a:r>
              <a:rPr lang="en-US" sz="1600" b="1"/>
              <a:t>The Problem:</a:t>
            </a:r>
            <a:r>
              <a:rPr lang="en-US" sz="1600"/>
              <a:t> Our social media engagement is high, our quality is proven, but our </a:t>
            </a:r>
            <a:r>
              <a:rPr lang="en-US" sz="1600" i="1"/>
              <a:t>capacity</a:t>
            </a:r>
            <a:r>
              <a:rPr lang="en-US" sz="1600"/>
              <a:t> is capped.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84369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8AB60-2B46-E1CA-60CF-7B93B058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Our Product Ecosystem</a:t>
            </a:r>
            <a:endParaRPr lang="en-US" sz="2600" u="sng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/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120B91-A8BC-2EF3-1DEC-0D202F34F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028244"/>
            <a:ext cx="7188199" cy="479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43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7A43BA-C7C0-35DF-E170-97B329997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u="sng"/>
              <a:t>The Brutal Bottleneck</a:t>
            </a:r>
            <a:endParaRPr lang="en-US" u="sng"/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DEB077-3F61-8260-F296-C0517ACEC7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3003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40812BE3-2DA2-3CD4-C112-E5442BF6BC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b="1"/>
              <a:t>Right now, we are buying fabric one tee at a time. It’s financially crippling</a:t>
            </a:r>
          </a:p>
          <a:p>
            <a:r>
              <a:rPr lang="en-US" sz="1900"/>
              <a:t>Currently, our cash flow forces us to use a </a:t>
            </a:r>
            <a:r>
              <a:rPr lang="en-US" sz="1900" b="1"/>
              <a:t>"per-order, custom-make" model</a:t>
            </a:r>
            <a:r>
              <a:rPr lang="en-US" sz="1900"/>
              <a:t>.</a:t>
            </a:r>
            <a:endParaRPr lang="en-US" sz="1900" b="1"/>
          </a:p>
          <a:p>
            <a:r>
              <a:rPr lang="en-US" sz="1900"/>
              <a:t>We use one single, reliable supplier. But because we don't have bulk capital:</a:t>
            </a:r>
          </a:p>
          <a:p>
            <a:pPr lvl="1"/>
            <a:r>
              <a:rPr lang="en-US" sz="1900"/>
              <a:t>We buy the fabric </a:t>
            </a:r>
            <a:r>
              <a:rPr lang="en-US" sz="1900" i="1"/>
              <a:t>after</a:t>
            </a:r>
            <a:r>
              <a:rPr lang="en-US" sz="1900"/>
              <a:t> a customer orders.</a:t>
            </a:r>
          </a:p>
          <a:p>
            <a:pPr lvl="1"/>
            <a:r>
              <a:rPr lang="en-US" sz="1900"/>
              <a:t>The supplier custom-makes the tee specifically for that order (5-day wait).</a:t>
            </a:r>
          </a:p>
          <a:p>
            <a:pPr lvl="1"/>
            <a:r>
              <a:rPr lang="en-US" sz="1900"/>
              <a:t>We ship it individually.</a:t>
            </a:r>
          </a:p>
          <a:p>
            <a:r>
              <a:rPr lang="en-US" sz="1900" b="1"/>
              <a:t>The result:</a:t>
            </a:r>
            <a:r>
              <a:rPr lang="en-US" sz="1900"/>
              <a:t> We cannot cater to a huge number of orders. We lose sales every single week because we can't front the cost of raw materials. We are stuck in a hand-to-mouth production cycle.</a:t>
            </a:r>
          </a:p>
          <a:p>
            <a:endParaRPr lang="en-US" sz="1900" b="1"/>
          </a:p>
        </p:txBody>
      </p:sp>
    </p:spTree>
    <p:extLst>
      <p:ext uri="{BB962C8B-B14F-4D97-AF65-F5344CB8AC3E}">
        <p14:creationId xmlns:p14="http://schemas.microsoft.com/office/powerpoint/2010/main" val="3703415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4D17B-5918-30FA-6657-50BB13D87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u="sng"/>
              <a:t>The Marketing Strategy</a:t>
            </a:r>
            <a:endParaRPr lang="en-US" sz="4000" u="sng"/>
          </a:p>
          <a:p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78364-1EC2-0608-CA16-768DA0EA1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/>
              <a:t>We don't just post pictures. We provoke action.</a:t>
            </a:r>
          </a:p>
          <a:p>
            <a:r>
              <a:rPr lang="en-US" sz="1700" b="1"/>
              <a:t>FOMO Drops:</a:t>
            </a:r>
            <a:r>
              <a:rPr lang="en-US" sz="1700"/>
              <a:t> We move away from "always available" to strict, announced drop dates (e.g., "20 units, August 15th, 8 PM"). Scarcity forces the follower to commit.</a:t>
            </a:r>
          </a:p>
          <a:p>
            <a:r>
              <a:rPr lang="en-US" sz="1700" b="1"/>
              <a:t>UGC &amp; Fit-Checks:</a:t>
            </a:r>
            <a:r>
              <a:rPr lang="en-US" sz="1700"/>
              <a:t> We are killing static stock photos. 80% of our content will be unpolished, authentic Reels/TikToks of real humans wearing the tees in natural sunlight.</a:t>
            </a:r>
          </a:p>
          <a:p>
            <a:r>
              <a:rPr lang="en-US" sz="1700" b="1"/>
              <a:t>Direct DM Monetization:</a:t>
            </a:r>
            <a:r>
              <a:rPr lang="en-US" sz="1700"/>
              <a:t> We do not wait for the "Link in Bio" to work. We proactively DM followers who engage with our posts and offer them a direct pre-order link. It builds a boutique relationship and moves them out of the feed immediately.</a:t>
            </a:r>
          </a:p>
          <a:p>
            <a:endParaRPr lang="en-US" sz="17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D8211F-D2E0-A93D-0FC2-23DEF82E06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2" b="5356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421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ED2B3A-84BE-0205-4CAC-B78EB2BC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The Investment Ask (The R 50,000)</a:t>
            </a: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/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D6B659-528A-3CB8-A175-426C9EE2C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028244"/>
            <a:ext cx="7188199" cy="479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083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AD21-4D55-DB2F-1FD1-6768E84E8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/>
              <a:t>The Projections </a:t>
            </a:r>
          </a:p>
          <a:p>
            <a:endParaRPr lang="en-US" sz="32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A92599-C920-91AC-09B6-B1DD0D0C83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7004" r="-1" b="18108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17847-E855-FD44-22D1-7F95C1E90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b="1"/>
              <a:t> Why R50k makes perfect financial sense.</a:t>
            </a:r>
          </a:p>
          <a:p>
            <a:r>
              <a:rPr lang="en-US" sz="1600"/>
              <a:t>Because we are currently buying one tee at a time, our Scuba Tee costs ~R180 to make.</a:t>
            </a:r>
            <a:endParaRPr lang="en-US" sz="1600" b="1"/>
          </a:p>
          <a:p>
            <a:r>
              <a:rPr lang="en-US" sz="1600" b="1"/>
              <a:t>With bulk buying, that drops to ~R120 per unit.</a:t>
            </a:r>
            <a:endParaRPr lang="en-US" sz="1600"/>
          </a:p>
          <a:p>
            <a:r>
              <a:rPr lang="en-US" sz="1600" b="1"/>
              <a:t>The math:</a:t>
            </a:r>
            <a:r>
              <a:rPr lang="en-US" sz="1600"/>
              <a:t> Our average selling price is roughly R340. That means we make R220 profit per tee.</a:t>
            </a:r>
          </a:p>
          <a:p>
            <a:r>
              <a:rPr lang="en-US" sz="1600"/>
              <a:t>We only need to sell </a:t>
            </a:r>
            <a:r>
              <a:rPr lang="en-US" sz="1600" b="1"/>
              <a:t>238 tees</a:t>
            </a:r>
            <a:r>
              <a:rPr lang="en-US" sz="1600"/>
              <a:t> to completely pay back the entire R50,000 investment.</a:t>
            </a:r>
          </a:p>
          <a:p>
            <a:r>
              <a:rPr lang="en-US" sz="1600"/>
              <a:t>Our roadmap targets 40 units a month. Over 6 months, that is </a:t>
            </a:r>
            <a:r>
              <a:rPr lang="en-US" sz="1600" b="1"/>
              <a:t>240 units</a:t>
            </a:r>
            <a:r>
              <a:rPr lang="en-US" sz="1600"/>
              <a:t>.</a:t>
            </a:r>
          </a:p>
          <a:p>
            <a:r>
              <a:rPr lang="en-US" sz="1600" b="1"/>
              <a:t>Conclusion:</a:t>
            </a:r>
            <a:r>
              <a:rPr lang="en-US" sz="1600"/>
              <a:t> The R50k investment will have fully paid for itself within 6 months. After that, everything is pure profit.</a:t>
            </a:r>
          </a:p>
          <a:p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3453512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E29E-05BB-D9B9-796C-0EE50864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/>
              <a:t>The Founders &amp; The Closing</a:t>
            </a:r>
            <a:endParaRPr lang="en-US" sz="3200"/>
          </a:p>
          <a:p>
            <a:endParaRPr lang="en-US" sz="32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1C1675-8FB4-406E-A678-020652609A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149" r="2" b="2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17578-DFC3-D775-75CC-E4805DA434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300" b="1"/>
              <a:t>Investors don't bet on trends. They bet on founders who solve bottlenecks.</a:t>
            </a:r>
          </a:p>
          <a:p>
            <a:r>
              <a:rPr lang="en-US" sz="1300"/>
              <a:t>We are </a:t>
            </a:r>
            <a:r>
              <a:rPr lang="en-US" sz="1300" b="1"/>
              <a:t>Wandile Zulu</a:t>
            </a:r>
            <a:r>
              <a:rPr lang="en-US" sz="1300"/>
              <a:t>, </a:t>
            </a:r>
            <a:r>
              <a:rPr lang="en-US" sz="1300" b="1"/>
              <a:t>Sphesihle Mgojo</a:t>
            </a:r>
            <a:r>
              <a:rPr lang="en-US" sz="1300"/>
              <a:t>, and </a:t>
            </a:r>
            <a:r>
              <a:rPr lang="en-US" sz="1300" b="1"/>
              <a:t>Njabulo Nyathi</a:t>
            </a:r>
            <a:r>
              <a:rPr lang="en-US" sz="1300"/>
              <a:t>. Three founders, one studio in Pietermaritzburg, and a single shared mission: build a luxury-streetwear label South Africa can be proud of.</a:t>
            </a:r>
            <a:endParaRPr lang="en-US" sz="1300" b="1"/>
          </a:p>
          <a:p>
            <a:r>
              <a:rPr lang="en-US" sz="1300"/>
              <a:t>Together, we have already built a 65.5% margin product, proven real demand, and achieved a 100% sell-through rate in our first month—all while battling a hand-to-mouth, per-order cash-flow model.</a:t>
            </a:r>
          </a:p>
          <a:p>
            <a:r>
              <a:rPr lang="en-US" sz="1300"/>
              <a:t>We aren't asking for a loan to survive. We are asking for the fuel to take what three of us have already proven works—and scale it to the volume it deserves.</a:t>
            </a:r>
          </a:p>
          <a:p>
            <a:r>
              <a:rPr lang="en-US" sz="1300"/>
              <a:t>Give us R50,000. We will buy the materials in bulk. We will cut our wait times from 5 days to 0. We will serve our waiting customers. We will pay you back in 6 months.</a:t>
            </a:r>
          </a:p>
          <a:p>
            <a:r>
              <a:rPr lang="en-US" sz="1300" i="1"/>
              <a:t>Built Different. Worn Proud.</a:t>
            </a:r>
            <a:endParaRPr lang="en-US" sz="1300"/>
          </a:p>
          <a:p>
            <a:endParaRPr lang="en-US" sz="1300" b="1"/>
          </a:p>
        </p:txBody>
      </p:sp>
    </p:spTree>
    <p:extLst>
      <p:ext uri="{BB962C8B-B14F-4D97-AF65-F5344CB8AC3E}">
        <p14:creationId xmlns:p14="http://schemas.microsoft.com/office/powerpoint/2010/main" val="1101394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85654-018F-D948-C827-3E135CE6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820" y="741391"/>
            <a:ext cx="6705206" cy="1616203"/>
          </a:xfrm>
        </p:spPr>
        <p:txBody>
          <a:bodyPr anchor="b">
            <a:normAutofit/>
          </a:bodyPr>
          <a:lstStyle/>
          <a:p>
            <a:pPr algn="ctr"/>
            <a:r>
              <a:rPr lang="en-US" sz="3200" u="sng">
                <a:latin typeface="Times New Roman"/>
                <a:ea typeface="+mj-lt"/>
                <a:cs typeface="Times New Roman"/>
              </a:rPr>
              <a:t>BABY GOAT APPAREL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2AB4C-8F40-3D5D-B122-C912830E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0820" y="2533476"/>
            <a:ext cx="6705206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 i="1">
                <a:latin typeface="Times New Roman"/>
                <a:ea typeface="+mn-lt"/>
                <a:cs typeface="Times New Roman"/>
              </a:rPr>
              <a:t>  That's the honest breakdown of where we stand. We know the R50k isn't pocket change, but we also know we've already proven the demand. Our question to you is: based on our margins and our 6-month payback math, what's your initial gut feeling on this?</a:t>
            </a:r>
            <a:br>
              <a:rPr lang="en-US" sz="2000" i="1" dirty="0">
                <a:latin typeface="Times New Roman"/>
                <a:ea typeface="+mn-lt"/>
                <a:cs typeface="Times New Roman"/>
              </a:rPr>
            </a:br>
            <a:endParaRPr lang="en-US" sz="2000">
              <a:latin typeface="Times New Roman"/>
              <a:ea typeface="+mn-lt"/>
              <a:cs typeface="Times New Roman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36894" y="695800"/>
            <a:ext cx="123362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97382" y="3835311"/>
            <a:ext cx="123362" cy="5928176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30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BABY GOAT APPAREL: BREAKING THE BOTTLENECK</vt:lpstr>
      <vt:lpstr>The Problem &amp; The Gap</vt:lpstr>
      <vt:lpstr> The Brand DNA </vt:lpstr>
      <vt:lpstr>The Fabric &amp; The Unboxing </vt:lpstr>
      <vt:lpstr> The Proving Ground </vt:lpstr>
      <vt:lpstr>Our Product Ecosystem </vt:lpstr>
      <vt:lpstr>The Brutal Bottleneck </vt:lpstr>
      <vt:lpstr>The Marketing Strategy </vt:lpstr>
      <vt:lpstr> The Investment Ask (The R 50,000) </vt:lpstr>
      <vt:lpstr>The Projections  </vt:lpstr>
      <vt:lpstr>The Founders &amp; The Closing </vt:lpstr>
      <vt:lpstr>BABY GOAT APPAREL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282</cp:revision>
  <dcterms:created xsi:type="dcterms:W3CDTF">2026-07-31T13:11:22Z</dcterms:created>
  <dcterms:modified xsi:type="dcterms:W3CDTF">2026-08-01T12:48:12Z</dcterms:modified>
</cp:coreProperties>
</file>